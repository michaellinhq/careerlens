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CareerLens 职业透镜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FDBFE"/>
                </a:solidFill>
                <a:latin typeface="Calibri"/>
              </a:defRPr>
            </a:pPr>
            <a:r>
              <a:t>AI驱动的工程师技能转型平台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FDBFE"/>
                </a:solidFill>
                <a:latin typeface="Calibri"/>
              </a:defRPr>
            </a:pPr>
            <a:r>
              <a:t>商业计划书 · 2026</a:t>
            </a:r>
          </a:p>
          <a:p>
            <a:pPr>
              <a:spcBef>
                <a:spcPts val="600"/>
              </a:spcBef>
              <a:defRPr sz="1200" b="0">
                <a:solidFill>
                  <a:srgbClr val="475569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BFDBFE"/>
                </a:solidFill>
                <a:latin typeface="Calibri"/>
              </a:defRPr>
            </a:pPr>
            <a:r>
              <a:t>Michael Lin (林海青) · Magna 汽车电子质量管理 10年+</a:t>
            </a:r>
          </a:p>
          <a:p>
            <a:pPr>
              <a:spcBef>
                <a:spcPts val="6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联系方式: michaellinhq@gmail.com · github.com/michaellinhq/careerlens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问题：全球工程师正在经历前所未有的技能危机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493776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Calibri"/>
              </a:defRPr>
            </a:pPr>
            <a:r>
              <a:t>🇩🇪 德国：300万+汽车工人面临失业</a:t>
            </a:r>
          </a:p>
          <a:p>
            <a:pPr>
              <a:spcBef>
                <a:spcPts val="1000"/>
              </a:spcBef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VW 裁员 30,000人 · Continental 裁员 7,000人 · ZF 裁员 12,000人</a:t>
            </a:r>
          </a:p>
          <a:p>
            <a:pPr>
              <a:spcBef>
                <a:spcPts val="1000"/>
              </a:spcBef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传统内燃机技能快速贬值，电动化/数字化人才严重短缺</a:t>
            </a:r>
          </a:p>
          <a:p>
            <a:pPr>
              <a:spcBef>
                <a:spcPts val="1000"/>
              </a:spcBef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Arbeitsamt (BA) 每年拨款数十亿欧元用于再培训</a:t>
            </a:r>
          </a:p>
          <a:p>
            <a:pPr>
              <a:spcBef>
                <a:spcPts val="1000"/>
              </a:spcBef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但工具落后：纸质问卷 + 人工顾问看30秒简历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493776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Calibri"/>
              </a:defRPr>
            </a:pPr>
            <a:r>
              <a:t>🇨🇳 中国：1000万+中年工程师就业困难</a:t>
            </a:r>
          </a:p>
          <a:p>
            <a:pPr>
              <a:spcBef>
                <a:spcPts val="1000"/>
              </a:spcBef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制造业PMI持续收缩，35岁危机加剧</a:t>
            </a:r>
          </a:p>
          <a:p>
            <a:pPr>
              <a:spcBef>
                <a:spcPts val="1000"/>
              </a:spcBef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2.8亿自由职业者缺乏转型指导</a:t>
            </a:r>
          </a:p>
          <a:p>
            <a:pPr>
              <a:spcBef>
                <a:spcPts val="1000"/>
              </a:spcBef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AI替代风险：传统质量/测试岗位首当其冲</a:t>
            </a:r>
          </a:p>
          <a:p>
            <a:pPr>
              <a:spcBef>
                <a:spcPts val="1000"/>
              </a:spcBef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现有平台(BOSS/LinkedIn)只做招聘，不做转型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核心矛盾：数百万工程师有可迁移技能，但不知道自己"离新身份只差1-3个技能"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解决方案：AI驱动的"人才错配修复引擎"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CareerLens 不是又一个招聘网站。我们修复"技能-岗位"的错配，让转型路径精确到天。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237744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F172A"/>
                </a:solidFill>
                <a:latin typeface="Calibri"/>
              </a:defRPr>
            </a:pPr>
            <a:r>
              <a:t>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1. 我是谁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简历→AI画像→职业心电图→叠加态分析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286000"/>
            <a:ext cx="237744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F172A"/>
                </a:solidFill>
                <a:latin typeface="Calibri"/>
              </a:defRPr>
            </a:pPr>
            <a:r>
              <a:t>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2. 去哪里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65760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9大行业×60+岗位→购物车选择目标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286000"/>
            <a:ext cx="237744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F172A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3. 怎么去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65760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技能→工具→认证→GitHub工程挑战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2286000"/>
            <a:ext cx="237744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59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F172A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59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4. 开始走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59" y="365760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中德地图→城市→公司→招聘链接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核心创新："能力叠加态"分析引擎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Calibri"/>
              </a:defRPr>
            </a:pPr>
            <a:r>
              <a:t>LinkedIn告诉你"你适合什么工作"。CareerLens告诉你"你离一个全新的身份只差什么"。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1033272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4688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示例：一位被VW裁员的传统机械工程师</a:t>
            </a:r>
          </a:p>
          <a:p>
            <a:pPr>
              <a:spcBef>
                <a:spcPts val="800"/>
              </a:spcBef>
              <a:defRPr sz="1300" b="0">
                <a:solidFill>
                  <a:srgbClr val="475569"/>
                </a:solidFill>
                <a:latin typeface="Calibri"/>
              </a:defRPr>
            </a:pPr>
            <a:r>
              <a:t>现有技能：FMEA, SPC, CATIA V5, GD&amp;T, VDA 6.3, Lean Manufacturing</a:t>
            </a:r>
          </a:p>
          <a:p>
            <a:pPr>
              <a:spcBef>
                <a:spcPts val="600"/>
              </a:spcBef>
              <a:defRPr sz="800" b="0">
                <a:solidFill>
                  <a:srgbClr val="475569"/>
                </a:solidFill>
                <a:latin typeface="Calibri"/>
              </a:defRPr>
            </a:pPr>
          </a:p>
          <a:p>
            <a:pPr>
              <a:spcBef>
                <a:spcPts val="1200"/>
              </a:spcBef>
              <a:defRPr sz="1500" b="1">
                <a:solidFill>
                  <a:srgbClr val="2563EB"/>
                </a:solidFill>
                <a:latin typeface="Calibri"/>
              </a:defRPr>
            </a:pPr>
            <a:r>
              <a:t>⚛ 叠加态分析结果：</a:t>
            </a:r>
          </a:p>
          <a:p>
            <a:pPr>
              <a:spcBef>
                <a:spcPts val="600"/>
              </a:spcBef>
              <a:defRPr sz="400" b="0">
                <a:solidFill>
                  <a:srgbClr val="475569"/>
                </a:solidFill>
                <a:latin typeface="Calibri"/>
              </a:defRPr>
            </a:pP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  <a:latin typeface="Calibri"/>
              </a:defRPr>
            </a:pPr>
            <a:r>
              <a:t>方案A: +ISO 13485 → 医疗器械质量工程师</a:t>
            </a:r>
          </a:p>
          <a:p>
            <a:pPr>
              <a:spcBef>
                <a:spcPts val="200"/>
              </a:spcBef>
              <a:defRPr sz="1100" b="0">
                <a:solidFill>
                  <a:srgbClr val="059669"/>
                </a:solidFill>
                <a:latin typeface="Calibri"/>
              </a:defRPr>
            </a:pPr>
            <a:r>
              <a:t>AI风险: 72%→18% | 薪资: +35% | 培训: 4周 | 增长: 🔥高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  <a:latin typeface="Calibri"/>
              </a:defRPr>
            </a:pPr>
            <a:r>
              <a:t>方案B: +BMS+电池安全 → 新能源电池检测工程师</a:t>
            </a:r>
          </a:p>
          <a:p>
            <a:pPr>
              <a:spcBef>
                <a:spcPts val="200"/>
              </a:spcBef>
              <a:defRPr sz="1100" b="0">
                <a:solidFill>
                  <a:srgbClr val="059669"/>
                </a:solidFill>
                <a:latin typeface="Calibri"/>
              </a:defRPr>
            </a:pPr>
            <a:r>
              <a:t>AI风险: 72%→15% | 薪资: +42% | 培训: 6周 | 增长: 🔥高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  <a:latin typeface="Calibri"/>
              </a:defRPr>
            </a:pPr>
            <a:r>
              <a:t>方案C: +ROS2+视觉检测 → 机器人质量保证工程师</a:t>
            </a:r>
          </a:p>
          <a:p>
            <a:pPr>
              <a:spcBef>
                <a:spcPts val="200"/>
              </a:spcBef>
              <a:defRPr sz="1100" b="0">
                <a:solidFill>
                  <a:srgbClr val="059669"/>
                </a:solidFill>
                <a:latin typeface="Calibri"/>
              </a:defRPr>
            </a:pPr>
            <a:r>
              <a:t>AI风险: 72%→8% | 薪资: +55% | 培训: 8周 | 增长: 🔥高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三阶段战略：工具 → 通路 → 信用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3200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Calibri"/>
              </a:defRPr>
            </a:pPr>
            <a:r>
              <a:t>Phase 1: 工具层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2026 Q2-Q4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免费技能分析+叠加态推荐</a:t>
            </a:r>
          </a:p>
          <a:p>
            <a:pPr>
              <a:spcBef>
                <a:spcPts val="800"/>
              </a:spcBef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开源核心代码获取信任</a:t>
            </a:r>
          </a:p>
          <a:p>
            <a:pPr>
              <a:spcBef>
                <a:spcPts val="800"/>
              </a:spcBef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积累用户数据和行业认知</a:t>
            </a:r>
          </a:p>
          <a:p>
            <a:pPr>
              <a:spcBef>
                <a:spcPts val="800"/>
              </a:spcBef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目标: 10,000注册用户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00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59669"/>
                </a:solidFill>
                <a:latin typeface="Calibri"/>
              </a:defRPr>
            </a:pPr>
            <a:r>
              <a:t>Phase 2: 通路层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2027 Q1-Q4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5176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BA/KURSNET API对接→课程精准匹配</a:t>
            </a:r>
          </a:p>
          <a:p>
            <a:pPr>
              <a:spcBef>
                <a:spcPts val="800"/>
              </a:spcBef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培训机构佣金(¥750-2250/单)</a:t>
            </a:r>
          </a:p>
          <a:p>
            <a:pPr>
              <a:spcBef>
                <a:spcPts val="800"/>
              </a:spcBef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Vector/TÜV认证推荐合作</a:t>
            </a:r>
          </a:p>
          <a:p>
            <a:pPr>
              <a:spcBef>
                <a:spcPts val="800"/>
              </a:spcBef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目标: BA试点合同 + 月收入€10K+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645920"/>
            <a:ext cx="3200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9" y="17373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97706"/>
                </a:solidFill>
                <a:latin typeface="Calibri"/>
              </a:defRPr>
            </a:pPr>
            <a:r>
              <a:t>Phase 3: 信用层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21945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2028+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265176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GitHub工程挑战→工程信用认证</a:t>
            </a:r>
          </a:p>
          <a:p>
            <a:pPr>
              <a:spcBef>
                <a:spcPts val="800"/>
              </a:spcBef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企业直聘通道(绕过简历初筛)</a:t>
            </a:r>
          </a:p>
          <a:p>
            <a:pPr>
              <a:spcBef>
                <a:spcPts val="800"/>
              </a:spcBef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技能数据报告→卖给培训机构和政府</a:t>
            </a:r>
          </a:p>
          <a:p>
            <a:pPr>
              <a:spcBef>
                <a:spcPts val="800"/>
              </a:spcBef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目标: 成为"全球工程师技能资产交易所"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盈利模式：三大收入来源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320040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🏛 B2G: 政府购买服务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Arbeitsamt (BA) Bildungsgutschein</a:t>
            </a:r>
          </a:p>
          <a:p>
            <a:pPr>
              <a:spcBef>
                <a:spcPts val="8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每人评估费€50-200 或年度许可€100K-500K</a:t>
            </a:r>
          </a:p>
          <a:p>
            <a:pPr>
              <a:spcBef>
                <a:spcPts val="8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你的BA高管朋友 = 进入决策链</a:t>
            </a:r>
          </a:p>
          <a:p>
            <a:pPr>
              <a:spcBef>
                <a:spcPts val="8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德国300万失业汽车工人 = 巨大市场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120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Calibri"/>
              </a:defRPr>
            </a:pPr>
            <a:r>
              <a:t>潜在年收入: €100K-500K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0040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🏢 B2B: 培训佣金+企业服务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培训机构佣金: 10-20%/单 (¥750-2250)</a:t>
            </a:r>
          </a:p>
          <a:p>
            <a:pPr>
              <a:spcBef>
                <a:spcPts val="8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Vector/TÜV认证推荐佣金</a:t>
            </a:r>
          </a:p>
          <a:p>
            <a:pPr>
              <a:spcBef>
                <a:spcPts val="8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企业直聘通道: 按入职收费</a:t>
            </a:r>
          </a:p>
          <a:p>
            <a:pPr>
              <a:spcBef>
                <a:spcPts val="8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行业技能报告: 卖给培训机构和猎头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120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Calibri"/>
              </a:defRPr>
            </a:pPr>
            <a:r>
              <a:t>潜在年收入: ¥50-100万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463040"/>
            <a:ext cx="320040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9" y="1554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👤 B2C: 增值服务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210312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AI深度职业报告: ¥99/€15</a:t>
            </a:r>
          </a:p>
          <a:p>
            <a:pPr>
              <a:spcBef>
                <a:spcPts val="8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专家代码审查: ¥299/€45</a:t>
            </a:r>
          </a:p>
          <a:p>
            <a:pPr>
              <a:spcBef>
                <a:spcPts val="8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1v1咨询: ¥299/€45</a:t>
            </a:r>
          </a:p>
          <a:p>
            <a:pPr>
              <a:spcBef>
                <a:spcPts val="8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金牌工程认证答辩: ¥999/€150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5120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Calibri"/>
              </a:defRPr>
            </a:pPr>
            <a:r>
              <a:t>潜在年收入: ¥30-80万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12个月综合盈利目标: €200K-700K（保守场景以BA一个试点合同为基础）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护城河：为什么别人复制不了？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1033272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⚛ 叠加态算法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745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需要深厚的跨行业工程认知才能设计正确的技能桥梁映射。纯AI无法替代10年一线经验的行业判断力。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1033272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📊 专家验证数据飞轮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803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用户越多→专家纠偏越多→路径越准→用户越多。这个数据资产随时间指数增长，后来者无法追上。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474720"/>
            <a:ext cx="1033272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520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🏛 政府关系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88620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与BA高管的直接关系不是技术能复制的。政府采购有极高的信任门槛和合规要求。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480560"/>
            <a:ext cx="1033272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526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🔬 工程信用体系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8920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GitHub工程挑战+隐藏测试+专家答辩=不可伪造的工程能力证明。LinkedIn做不到，因为它是社交平台，不是工程平台。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486400"/>
            <a:ext cx="1033272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5532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🌏 双市场定位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8978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同时覆盖中国和德国制造业市场。竞品通常只做一个市场。创始人中德双语+双市场认知。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终局愿景："全球工程师技能资产交易所"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Calibri"/>
              </a:defRPr>
            </a:pPr>
            <a:r>
              <a:t>Code is the only truth — 代码是唯一的真理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320040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铜牌: AI分析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免费 · 即时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简历→AI画像→叠加态推荐</a:t>
            </a:r>
            <a:br/>
            <a:r>
              <a:t>参考信息，不是证明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286000"/>
            <a:ext cx="320040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377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银牌: 项目完成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926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免费 · 需要时间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38328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Fork模板→完成代码→通过隐藏测试</a:t>
            </a:r>
            <a:br/>
            <a:r>
              <a:t>"这人真写过代码"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286000"/>
            <a:ext cx="3200400" cy="393192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2377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金牌: 专家验证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2926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97706"/>
                </a:solidFill>
                <a:latin typeface="Calibri"/>
              </a:defRPr>
            </a:pPr>
            <a:r>
              <a:t>付费 · 稀缺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338328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银牌+30分钟口头答辩</a:t>
            </a:r>
            <a:br/>
            <a:r>
              <a:t>由行业专家亲自审核</a:t>
            </a:r>
            <a:br/>
            <a:r>
              <a:t>"不可伪造的工程能力证明"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市场规模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2563EB"/>
                </a:solidFill>
                <a:latin typeface="Calibri"/>
              </a:defRPr>
            </a:pPr>
            <a:r>
              <a:t>TAM (总可触达市场)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  <a:latin typeface="Calibri"/>
              </a:defRPr>
            </a:pPr>
            <a:r>
              <a:t>全球工程师再培训市场 ~$50B/年</a:t>
            </a:r>
          </a:p>
          <a:p>
            <a:pPr>
              <a:spcBef>
                <a:spcPts val="400"/>
              </a:spcBef>
              <a:defRPr sz="1200" b="0">
                <a:solidFill>
                  <a:srgbClr val="475569"/>
                </a:solidFill>
                <a:latin typeface="Calibri"/>
              </a:defRPr>
            </a:pPr>
            <a:r>
              <a:t>德国Bildungsgutschein: €7B/年</a:t>
            </a:r>
          </a:p>
          <a:p>
            <a:pPr>
              <a:spcBef>
                <a:spcPts val="1600"/>
              </a:spcBef>
              <a:defRPr sz="1800" b="1">
                <a:solidFill>
                  <a:srgbClr val="2563EB"/>
                </a:solidFill>
                <a:latin typeface="Calibri"/>
              </a:defRPr>
            </a:pPr>
            <a:r>
              <a:t>SAM (可服务市场)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  <a:latin typeface="Calibri"/>
              </a:defRPr>
            </a:pPr>
            <a:r>
              <a:t>高端制造业工程师转型: ~$2B/年</a:t>
            </a:r>
          </a:p>
          <a:p>
            <a:pPr>
              <a:spcBef>
                <a:spcPts val="400"/>
              </a:spcBef>
              <a:defRPr sz="1200" b="0">
                <a:solidFill>
                  <a:srgbClr val="475569"/>
                </a:solidFill>
                <a:latin typeface="Calibri"/>
              </a:defRPr>
            </a:pPr>
            <a:r>
              <a:t>德国汽车+制造: 300万工人×平均€2000培训费</a:t>
            </a:r>
          </a:p>
          <a:p>
            <a:pPr>
              <a:spcBef>
                <a:spcPts val="1600"/>
              </a:spcBef>
              <a:defRPr sz="1800" b="1">
                <a:solidFill>
                  <a:srgbClr val="2563EB"/>
                </a:solidFill>
                <a:latin typeface="Calibri"/>
              </a:defRPr>
            </a:pPr>
            <a:r>
              <a:t>SOM (可获取市场)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  <a:latin typeface="Calibri"/>
              </a:defRPr>
            </a:pPr>
            <a:r>
              <a:t>第一年目标: €200K-700K</a:t>
            </a:r>
          </a:p>
          <a:p>
            <a:pPr>
              <a:spcBef>
                <a:spcPts val="400"/>
              </a:spcBef>
              <a:defRPr sz="1200" b="0">
                <a:solidFill>
                  <a:srgbClr val="475569"/>
                </a:solidFill>
                <a:latin typeface="Calibri"/>
              </a:defRPr>
            </a:pPr>
            <a:r>
              <a:t>1个BA区域合同(€100-500K) + 培训佣金(€60-120K) + B2C(€35-100K)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产品演示：一个失业工程师的转型之路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1033272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508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508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上传简历(PDF/文本)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8745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AI自动识别: FMEA, SPC, CATIA, VDA 6.3等技能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68880"/>
            <a:ext cx="1033272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514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514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职业心电图即时显示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88036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AI替代风险: 62% | 技能衰减: -15%/年 | 慕尼黑估价: €55-72K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474720"/>
            <a:ext cx="1033272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520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520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叠加态揭示"隐藏身份"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862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"补1个技能(ISO 13485)→医疗器械质量工程师, 薪资+35%"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480560"/>
            <a:ext cx="1033272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5262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526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一键加入计划→行动路径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8920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技能清单+工具+认证+GitHub工程挑战→完成后获工程信用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486400"/>
            <a:ext cx="1033272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532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5532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市场地图→直接投递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8978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慕尼黑西门子医疗正在招聘→带着工程信用直接面试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路线图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24688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554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2026 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920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669"/>
                </a:solidFill>
                <a:latin typeface="Calibri"/>
              </a:defRPr>
            </a:pPr>
            <a:r>
              <a:t>已完成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4页漏斗产品MVP</a:t>
            </a:r>
          </a:p>
          <a:p>
            <a:pPr>
              <a:spcBef>
                <a:spcPts val="6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叠加态分析引擎</a:t>
            </a:r>
          </a:p>
          <a:p>
            <a:pPr>
              <a:spcBef>
                <a:spcPts val="6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9行业×60+岗位数据</a:t>
            </a:r>
          </a:p>
          <a:p>
            <a:pPr>
              <a:spcBef>
                <a:spcPts val="6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AI集成(通义千问)</a:t>
            </a:r>
          </a:p>
          <a:p>
            <a:pPr>
              <a:spcBef>
                <a:spcPts val="6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多模态简历输入(PDF/DOCX)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463040"/>
            <a:ext cx="24688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1554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2026 Q3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920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进行中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2860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汽车行业数据深化(专家级)</a:t>
            </a:r>
          </a:p>
          <a:p>
            <a:pPr>
              <a:spcBef>
                <a:spcPts val="6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GitHub工程挑战模板(3个)</a:t>
            </a:r>
          </a:p>
          <a:p>
            <a:pPr>
              <a:spcBef>
                <a:spcPts val="6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BA Pitch + 试点提案</a:t>
            </a:r>
          </a:p>
          <a:p>
            <a:pPr>
              <a:spcBef>
                <a:spcPts val="6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在德华人社区推广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63040"/>
            <a:ext cx="24688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54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Calibri"/>
              </a:defRPr>
            </a:pPr>
            <a:r>
              <a:t>2026 Q4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20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97706"/>
                </a:solidFill>
                <a:latin typeface="Calibri"/>
              </a:defRPr>
            </a:pPr>
            <a:r>
              <a:t>计划中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2860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KURSNET API对接</a:t>
            </a:r>
          </a:p>
          <a:p>
            <a:pPr>
              <a:spcBef>
                <a:spcPts val="6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Supabase后端(用户数据)</a:t>
            </a:r>
          </a:p>
          <a:p>
            <a:pPr>
              <a:spcBef>
                <a:spcPts val="6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专家纠偏系统上线</a:t>
            </a:r>
          </a:p>
          <a:p>
            <a:pPr>
              <a:spcBef>
                <a:spcPts val="6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BA区域试点启动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463040"/>
            <a:ext cx="24688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1554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75569"/>
                </a:solidFill>
                <a:latin typeface="Calibri"/>
              </a:defRPr>
            </a:pPr>
            <a:r>
              <a:t>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1920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愿景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2860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工程信用认证体系</a:t>
            </a:r>
          </a:p>
          <a:p>
            <a:pPr>
              <a:spcBef>
                <a:spcPts val="6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企业直聘通道</a:t>
            </a:r>
          </a:p>
          <a:p>
            <a:pPr>
              <a:spcBef>
                <a:spcPts val="6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行业技能数据报告</a:t>
            </a:r>
          </a:p>
          <a:p>
            <a:pPr>
              <a:spcBef>
                <a:spcPts val="6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扩展到IT/金融行业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团队与资源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937760" cy="32004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创始人: Michael Lin (林海青)</a:t>
            </a:r>
          </a:p>
          <a:p>
            <a:pPr>
              <a:spcBef>
                <a:spcPts val="800"/>
              </a:spcBef>
              <a:defRPr sz="1200" b="0">
                <a:solidFill>
                  <a:srgbClr val="BFDBFE"/>
                </a:solidFill>
                <a:latin typeface="Calibri"/>
              </a:defRPr>
            </a:pPr>
            <a:r>
              <a:t>• Magna 汽车电子质量管理 10年+</a:t>
            </a:r>
          </a:p>
          <a:p>
            <a:pPr>
              <a:spcBef>
                <a:spcPts val="800"/>
              </a:spcBef>
              <a:defRPr sz="1200" b="0">
                <a:solidFill>
                  <a:srgbClr val="BFDBFE"/>
                </a:solidFill>
                <a:latin typeface="Calibri"/>
              </a:defRPr>
            </a:pPr>
            <a:r>
              <a:t>• IATF 16949 主任审核员 / VDA 6.3</a:t>
            </a:r>
          </a:p>
          <a:p>
            <a:pPr>
              <a:spcBef>
                <a:spcPts val="800"/>
              </a:spcBef>
              <a:defRPr sz="1200" b="0">
                <a:solidFill>
                  <a:srgbClr val="BFDBFE"/>
                </a:solidFill>
                <a:latin typeface="Calibri"/>
              </a:defRPr>
            </a:pPr>
            <a:r>
              <a:t>• 中德双语, 深耕德国制造业圈</a:t>
            </a:r>
          </a:p>
          <a:p>
            <a:pPr>
              <a:spcBef>
                <a:spcPts val="800"/>
              </a:spcBef>
              <a:defRPr sz="1200" b="0">
                <a:solidFill>
                  <a:srgbClr val="BFDBFE"/>
                </a:solidFill>
                <a:latin typeface="Calibri"/>
              </a:defRPr>
            </a:pPr>
            <a:r>
              <a:t>• 全栈开发: React/Next.js/TypeScript/AI</a:t>
            </a:r>
          </a:p>
          <a:p>
            <a:pPr>
              <a:spcBef>
                <a:spcPts val="800"/>
              </a:spcBef>
              <a:defRPr sz="1200" b="0">
                <a:solidFill>
                  <a:srgbClr val="BFDBFE"/>
                </a:solidFill>
                <a:latin typeface="Calibri"/>
              </a:defRPr>
            </a:pPr>
            <a:r>
              <a:t>• BA高管直接联系人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4937760" cy="32004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我们需要什么</a:t>
            </a:r>
          </a:p>
          <a:p>
            <a:pPr>
              <a:spcBef>
                <a:spcPts val="1000"/>
              </a:spcBef>
              <a:defRPr sz="1200" b="0">
                <a:solidFill>
                  <a:srgbClr val="BFDBFE"/>
                </a:solidFill>
                <a:latin typeface="Calibri"/>
              </a:defRPr>
            </a:pPr>
            <a:r>
              <a:t>• BA试点合作: 1个区域3个月试点</a:t>
            </a:r>
          </a:p>
          <a:p>
            <a:pPr>
              <a:spcBef>
                <a:spcPts val="1000"/>
              </a:spcBef>
              <a:defRPr sz="1200" b="0">
                <a:solidFill>
                  <a:srgbClr val="BFDBFE"/>
                </a:solidFill>
                <a:latin typeface="Calibri"/>
              </a:defRPr>
            </a:pPr>
            <a:r>
              <a:t>• 培训机构合作: Vector / TÜV / AZAV机构</a:t>
            </a:r>
          </a:p>
          <a:p>
            <a:pPr>
              <a:spcBef>
                <a:spcPts val="1000"/>
              </a:spcBef>
              <a:defRPr sz="1200" b="0">
                <a:solidFill>
                  <a:srgbClr val="BFDBFE"/>
                </a:solidFill>
                <a:latin typeface="Calibri"/>
              </a:defRPr>
            </a:pPr>
            <a:r>
              <a:t>• 行业专家: 3-5位资深工程师参与路径验证</a:t>
            </a:r>
          </a:p>
          <a:p>
            <a:pPr>
              <a:spcBef>
                <a:spcPts val="1000"/>
              </a:spcBef>
              <a:defRPr sz="1200" b="0">
                <a:solidFill>
                  <a:srgbClr val="BFDBFE"/>
                </a:solidFill>
                <a:latin typeface="Calibri"/>
              </a:defRPr>
            </a:pPr>
            <a:r>
              <a:t>• 在德华人社区渠道: 自媒体/微信群/行业协会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CareerLens — 让每个工程师看到自己的"隐藏身份"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careerlens.pages.dev · github.com/michaellinhq/careerlens · michaellinhq@gmail.com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